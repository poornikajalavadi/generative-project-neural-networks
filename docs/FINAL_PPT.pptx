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29"/>
  </p:normalViewPr>
  <p:slideViewPr>
    <p:cSldViewPr snapToGrid="0">
      <p:cViewPr varScale="1">
        <p:scale>
          <a:sx n="88" d="100"/>
          <a:sy n="88" d="100"/>
        </p:scale>
        <p:origin x="20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6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0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1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8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7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8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3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8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8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8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56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4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82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2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14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FCBF88E-ACA0-F240-A144-820AFCF5B10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63445A-63B1-9C4C-8FE9-B689FEC1E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2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9" name="Picture 7178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7177" name="Picture 7176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0FEA58-F7AD-B410-9A0F-D9C936BEC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0" y="609600"/>
            <a:ext cx="5147730" cy="16419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 b="1"/>
              <a:t>GENERATIVE PROJECT</a:t>
            </a:r>
            <a:br>
              <a:rPr lang="en-US" sz="2800" b="1"/>
            </a:br>
            <a:r>
              <a:rPr lang="en-US" sz="2800" b="1"/>
              <a:t>IE(7295) NEURAL NETWORK / DEEP LEARNING</a:t>
            </a:r>
            <a:br>
              <a:rPr lang="en-US" sz="2800"/>
            </a:br>
            <a:endParaRPr lang="en-US" sz="2800"/>
          </a:p>
        </p:txBody>
      </p:sp>
      <p:pic>
        <p:nvPicPr>
          <p:cNvPr id="7172" name="Picture 4" descr="Artificial intelligence background with abstract elements">
            <a:extLst>
              <a:ext uri="{FF2B5EF4-FFF2-40B4-BE49-F238E27FC236}">
                <a16:creationId xmlns:a16="http://schemas.microsoft.com/office/drawing/2014/main" id="{53FDE179-283F-9531-D80B-2BCA0AC2F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6" r="33671"/>
          <a:stretch>
            <a:fillRect/>
          </a:stretch>
        </p:blipFill>
        <p:spPr bwMode="auto">
          <a:xfrm>
            <a:off x="20" y="975"/>
            <a:ext cx="6095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B5FA35-7392-332C-C468-D4C3B35F94C8}"/>
              </a:ext>
            </a:extLst>
          </p:cNvPr>
          <p:cNvSpPr txBox="1"/>
          <p:nvPr/>
        </p:nvSpPr>
        <p:spPr>
          <a:xfrm>
            <a:off x="6400800" y="2251587"/>
            <a:ext cx="5147730" cy="3637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dirty="0"/>
              <a:t>Group 06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DEV PATEL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HITAXI LETHWALA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POORNIKA JALAVADI</a:t>
            </a:r>
          </a:p>
          <a:p>
            <a:pPr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dirty="0"/>
              <a:t>RIAN DBRITTO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885521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36A7-5F8C-3332-9716-D2D57799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0704"/>
            <a:ext cx="7772185" cy="663615"/>
          </a:xfrm>
        </p:spPr>
        <p:txBody>
          <a:bodyPr>
            <a:normAutofit/>
          </a:bodyPr>
          <a:lstStyle/>
          <a:p>
            <a:r>
              <a:rPr lang="en-US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3FE05-10FB-4D79-CD69-E5773C9C0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74816"/>
            <a:ext cx="8096277" cy="2054183"/>
          </a:xfrm>
        </p:spPr>
        <p:txBody>
          <a:bodyPr>
            <a:noAutofit/>
          </a:bodyPr>
          <a:lstStyle/>
          <a:p>
            <a:r>
              <a:rPr lang="en-US" sz="1500" dirty="0"/>
              <a:t>Machines can process images, but they still struggle to truly understand them.</a:t>
            </a:r>
          </a:p>
          <a:p>
            <a:r>
              <a:rPr lang="en-US" sz="1500" dirty="0"/>
              <a:t>Generating captions requires both visual understanding and language skills together.</a:t>
            </a:r>
          </a:p>
          <a:p>
            <a:r>
              <a:rPr lang="en-US" sz="1500" dirty="0"/>
              <a:t>Most existing models produce captions that are too generic or miss key details.</a:t>
            </a:r>
          </a:p>
          <a:p>
            <a:r>
              <a:rPr lang="en-US" sz="1500" dirty="0"/>
              <a:t>Writing captions manually for large datasets is time-consuming and not scalable.</a:t>
            </a:r>
          </a:p>
          <a:p>
            <a:r>
              <a:rPr lang="en-US" sz="1500" dirty="0"/>
              <a:t>There is a need for a system that can generate accurate and human-like descriptions automatically.</a:t>
            </a:r>
          </a:p>
          <a:p>
            <a:endParaRPr 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9B622-E198-E992-74EC-035093945E2C}"/>
              </a:ext>
            </a:extLst>
          </p:cNvPr>
          <p:cNvSpPr txBox="1"/>
          <p:nvPr/>
        </p:nvSpPr>
        <p:spPr>
          <a:xfrm>
            <a:off x="1354238" y="3657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55FC2B-6A58-94E7-0958-9D1286DB1B75}"/>
              </a:ext>
            </a:extLst>
          </p:cNvPr>
          <p:cNvSpPr txBox="1">
            <a:spLocks/>
          </p:cNvSpPr>
          <p:nvPr/>
        </p:nvSpPr>
        <p:spPr>
          <a:xfrm>
            <a:off x="677334" y="3429000"/>
            <a:ext cx="7772185" cy="6636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OBJECTIVE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84CE7A-E88E-86D4-A4EA-1D529FBF9802}"/>
              </a:ext>
            </a:extLst>
          </p:cNvPr>
          <p:cNvSpPr txBox="1">
            <a:spLocks/>
          </p:cNvSpPr>
          <p:nvPr/>
        </p:nvSpPr>
        <p:spPr>
          <a:xfrm>
            <a:off x="677334" y="4321215"/>
            <a:ext cx="7424944" cy="1773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To build a model that can generate captions directly from images.</a:t>
            </a:r>
          </a:p>
          <a:p>
            <a:r>
              <a:rPr lang="en-US" sz="1500" dirty="0"/>
              <a:t>To combine visual understanding (CLIP) with language generation (GPT-2).</a:t>
            </a:r>
          </a:p>
          <a:p>
            <a:r>
              <a:rPr lang="en-US" sz="1500" dirty="0"/>
              <a:t>To produce captions that are accurate, meaningful, and human-like.</a:t>
            </a:r>
          </a:p>
          <a:p>
            <a:r>
              <a:rPr lang="en-US" sz="1500" dirty="0"/>
              <a:t>To compare different decoding strategies and improve output quality.</a:t>
            </a:r>
          </a:p>
          <a:p>
            <a:r>
              <a:rPr lang="en-US" sz="1500" dirty="0"/>
              <a:t>To create a system that can be used in real-world applications.</a:t>
            </a:r>
          </a:p>
          <a:p>
            <a:endParaRPr lang="en-US" sz="1500" dirty="0"/>
          </a:p>
        </p:txBody>
      </p:sp>
      <p:pic>
        <p:nvPicPr>
          <p:cNvPr id="8194" name="Picture 2" descr="AI Image To Caption - Generate Accurate Image Descriptions">
            <a:extLst>
              <a:ext uri="{FF2B5EF4-FFF2-40B4-BE49-F238E27FC236}">
                <a16:creationId xmlns:a16="http://schemas.microsoft.com/office/drawing/2014/main" id="{B5156FC4-34A4-8F0F-8317-DAD89D4D0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973" y="3289609"/>
            <a:ext cx="4901890" cy="326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2222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AE45-44D0-9018-045A-537E8BEF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990599"/>
            <a:ext cx="6282267" cy="1075268"/>
          </a:xfrm>
        </p:spPr>
        <p:txBody>
          <a:bodyPr>
            <a:normAutofit/>
          </a:bodyPr>
          <a:lstStyle/>
          <a:p>
            <a:r>
              <a:rPr lang="en-US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3D48-7C08-321D-30A7-ACCFE614D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6282267" cy="3649131"/>
          </a:xfrm>
        </p:spPr>
        <p:txBody>
          <a:bodyPr>
            <a:normAutofit/>
          </a:bodyPr>
          <a:lstStyle/>
          <a:p>
            <a:r>
              <a:rPr lang="en-US"/>
              <a:t>Used COCO 2017 dataset with real-world images and captions.</a:t>
            </a:r>
          </a:p>
          <a:p>
            <a:r>
              <a:rPr lang="en-US" altLang="en-US"/>
              <a:t>Sampled 5000 images from ~118k dataset. </a:t>
            </a:r>
          </a:p>
          <a:p>
            <a:r>
              <a:rPr lang="en-US" altLang="en-US"/>
              <a:t>After filtering, ~1486 valid image-caption pairs were used. </a:t>
            </a:r>
          </a:p>
          <a:p>
            <a:r>
              <a:rPr lang="en-US" altLang="en-US"/>
              <a:t>Each image is paired with a caption describing the scene.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512879-48E5-CA03-CC4D-5EF5B71BF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30" r="1" b="45365"/>
          <a:stretch>
            <a:fillRect/>
          </a:stretch>
        </p:blipFill>
        <p:spPr>
          <a:xfrm>
            <a:off x="7590936" y="990601"/>
            <a:ext cx="3445714" cy="2374995"/>
          </a:xfrm>
          <a:custGeom>
            <a:avLst/>
            <a:gdLst/>
            <a:ahLst/>
            <a:cxnLst/>
            <a:rect l="l" t="t" r="r" b="b"/>
            <a:pathLst>
              <a:path w="3445714" h="2374995">
                <a:moveTo>
                  <a:pt x="150922" y="0"/>
                </a:moveTo>
                <a:lnTo>
                  <a:pt x="3294792" y="0"/>
                </a:lnTo>
                <a:cubicBezTo>
                  <a:pt x="3378144" y="0"/>
                  <a:pt x="3445714" y="67570"/>
                  <a:pt x="3445714" y="150922"/>
                </a:cubicBezTo>
                <a:lnTo>
                  <a:pt x="3445714" y="2374995"/>
                </a:lnTo>
                <a:lnTo>
                  <a:pt x="0" y="2374995"/>
                </a:lnTo>
                <a:lnTo>
                  <a:pt x="0" y="150922"/>
                </a:lnTo>
                <a:cubicBezTo>
                  <a:pt x="0" y="67570"/>
                  <a:pt x="67570" y="0"/>
                  <a:pt x="150922" y="0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FA5B80-D362-C53D-C05C-66F507318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" b="7988"/>
          <a:stretch>
            <a:fillRect/>
          </a:stretch>
        </p:blipFill>
        <p:spPr>
          <a:xfrm>
            <a:off x="7590936" y="3516471"/>
            <a:ext cx="3445714" cy="2274728"/>
          </a:xfrm>
          <a:custGeom>
            <a:avLst/>
            <a:gdLst/>
            <a:ahLst/>
            <a:cxnLst/>
            <a:rect l="l" t="t" r="r" b="b"/>
            <a:pathLst>
              <a:path w="3445714" h="2274728">
                <a:moveTo>
                  <a:pt x="0" y="0"/>
                </a:moveTo>
                <a:lnTo>
                  <a:pt x="3445714" y="0"/>
                </a:lnTo>
                <a:lnTo>
                  <a:pt x="3445714" y="2123806"/>
                </a:lnTo>
                <a:cubicBezTo>
                  <a:pt x="3445714" y="2207158"/>
                  <a:pt x="3378144" y="2274728"/>
                  <a:pt x="3294792" y="2274728"/>
                </a:cubicBezTo>
                <a:lnTo>
                  <a:pt x="150922" y="2274728"/>
                </a:lnTo>
                <a:cubicBezTo>
                  <a:pt x="67570" y="2274728"/>
                  <a:pt x="0" y="2207158"/>
                  <a:pt x="0" y="2123806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/>
        </p:spPr>
      </p:pic>
      <p:sp>
        <p:nvSpPr>
          <p:cNvPr id="24" name="Freeform 28">
            <a:extLst>
              <a:ext uri="{FF2B5EF4-FFF2-40B4-BE49-F238E27FC236}">
                <a16:creationId xmlns:a16="http://schemas.microsoft.com/office/drawing/2014/main" id="{938522C2-0A7C-48B9-B428-63B93AA7C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85" y="990599"/>
            <a:ext cx="3503733" cy="4800599"/>
          </a:xfrm>
          <a:custGeom>
            <a:avLst/>
            <a:gdLst>
              <a:gd name="connsiteX0" fmla="*/ 0 w 3503733"/>
              <a:gd name="connsiteY0" fmla="*/ 2525872 h 4800599"/>
              <a:gd name="connsiteX1" fmla="*/ 3503733 w 3503733"/>
              <a:gd name="connsiteY1" fmla="*/ 2525872 h 4800599"/>
              <a:gd name="connsiteX2" fmla="*/ 3503733 w 3503733"/>
              <a:gd name="connsiteY2" fmla="*/ 4614235 h 4800599"/>
              <a:gd name="connsiteX3" fmla="*/ 3317369 w 3503733"/>
              <a:gd name="connsiteY3" fmla="*/ 4800599 h 4800599"/>
              <a:gd name="connsiteX4" fmla="*/ 186364 w 3503733"/>
              <a:gd name="connsiteY4" fmla="*/ 4800599 h 4800599"/>
              <a:gd name="connsiteX5" fmla="*/ 0 w 3503733"/>
              <a:gd name="connsiteY5" fmla="*/ 4614235 h 4800599"/>
              <a:gd name="connsiteX6" fmla="*/ 186364 w 3503733"/>
              <a:gd name="connsiteY6" fmla="*/ 0 h 4800599"/>
              <a:gd name="connsiteX7" fmla="*/ 3317369 w 3503733"/>
              <a:gd name="connsiteY7" fmla="*/ 0 h 4800599"/>
              <a:gd name="connsiteX8" fmla="*/ 3503733 w 3503733"/>
              <a:gd name="connsiteY8" fmla="*/ 186364 h 4800599"/>
              <a:gd name="connsiteX9" fmla="*/ 3503733 w 3503733"/>
              <a:gd name="connsiteY9" fmla="*/ 2374996 h 4800599"/>
              <a:gd name="connsiteX10" fmla="*/ 0 w 3503733"/>
              <a:gd name="connsiteY10" fmla="*/ 2374996 h 4800599"/>
              <a:gd name="connsiteX11" fmla="*/ 0 w 3503733"/>
              <a:gd name="connsiteY11" fmla="*/ 186364 h 4800599"/>
              <a:gd name="connsiteX12" fmla="*/ 186364 w 3503733"/>
              <a:gd name="connsiteY12" fmla="*/ 0 h 4800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03733" h="4800599">
                <a:moveTo>
                  <a:pt x="0" y="2525872"/>
                </a:moveTo>
                <a:lnTo>
                  <a:pt x="3503733" y="2525872"/>
                </a:lnTo>
                <a:lnTo>
                  <a:pt x="3503733" y="4614235"/>
                </a:lnTo>
                <a:cubicBezTo>
                  <a:pt x="3503733" y="4717161"/>
                  <a:pt x="3420295" y="4800599"/>
                  <a:pt x="3317369" y="4800599"/>
                </a:cubicBezTo>
                <a:lnTo>
                  <a:pt x="186364" y="4800599"/>
                </a:lnTo>
                <a:cubicBezTo>
                  <a:pt x="83438" y="4800599"/>
                  <a:pt x="0" y="4717161"/>
                  <a:pt x="0" y="4614235"/>
                </a:cubicBezTo>
                <a:close/>
                <a:moveTo>
                  <a:pt x="186364" y="0"/>
                </a:moveTo>
                <a:lnTo>
                  <a:pt x="3317369" y="0"/>
                </a:lnTo>
                <a:cubicBezTo>
                  <a:pt x="3420295" y="0"/>
                  <a:pt x="3503733" y="83438"/>
                  <a:pt x="3503733" y="186364"/>
                </a:cubicBezTo>
                <a:lnTo>
                  <a:pt x="3503733" y="2374996"/>
                </a:lnTo>
                <a:lnTo>
                  <a:pt x="0" y="2374996"/>
                </a:lnTo>
                <a:lnTo>
                  <a:pt x="0" y="186364"/>
                </a:lnTo>
                <a:cubicBezTo>
                  <a:pt x="0" y="83438"/>
                  <a:pt x="83438" y="0"/>
                  <a:pt x="186364" y="0"/>
                </a:cubicBezTo>
                <a:close/>
              </a:path>
            </a:pathLst>
          </a:cu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810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92BE-4B0A-257A-762C-1ACC3218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167881" cy="605742"/>
          </a:xfrm>
        </p:spPr>
        <p:txBody>
          <a:bodyPr>
            <a:normAutofit fontScale="90000"/>
          </a:bodyPr>
          <a:lstStyle/>
          <a:p>
            <a:r>
              <a:rPr lang="en-US" dirty="0"/>
              <a:t>END-TO-END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78CF8-055B-935F-9DE9-B7981CF5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435" y="1160804"/>
            <a:ext cx="4130936" cy="22681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Load COCO dataset and sample images</a:t>
            </a:r>
          </a:p>
          <a:p>
            <a:r>
              <a:rPr lang="en-US" dirty="0"/>
              <a:t>Create image-caption pairs</a:t>
            </a:r>
          </a:p>
          <a:p>
            <a:r>
              <a:rPr lang="en-US" dirty="0"/>
              <a:t>Extract image features using CLIP</a:t>
            </a:r>
          </a:p>
          <a:p>
            <a:r>
              <a:rPr lang="en-US" dirty="0"/>
              <a:t>Convert captions into tokens using GPT-2</a:t>
            </a:r>
          </a:p>
          <a:p>
            <a:r>
              <a:rPr lang="en-US" dirty="0"/>
              <a:t>Train model by combining image and text features</a:t>
            </a:r>
          </a:p>
          <a:p>
            <a:r>
              <a:rPr lang="en-US" dirty="0"/>
              <a:t>Generate captions for new images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D41224-CD52-0665-4F95-F18FC7EFF3A8}"/>
              </a:ext>
            </a:extLst>
          </p:cNvPr>
          <p:cNvSpPr txBox="1">
            <a:spLocks/>
          </p:cNvSpPr>
          <p:nvPr/>
        </p:nvSpPr>
        <p:spPr>
          <a:xfrm>
            <a:off x="760286" y="3574949"/>
            <a:ext cx="5167881" cy="6057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DATA PREPARATION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C48ED8-E09B-9575-CB22-B2F546633E17}"/>
              </a:ext>
            </a:extLst>
          </p:cNvPr>
          <p:cNvSpPr txBox="1">
            <a:spLocks/>
          </p:cNvSpPr>
          <p:nvPr/>
        </p:nvSpPr>
        <p:spPr>
          <a:xfrm>
            <a:off x="760286" y="4326640"/>
            <a:ext cx="8536114" cy="194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Sampled subset of COCO dataset</a:t>
            </a:r>
          </a:p>
          <a:p>
            <a:r>
              <a:rPr lang="en-US" sz="1500" dirty="0"/>
              <a:t>Cleaned and filtered image-caption</a:t>
            </a:r>
          </a:p>
          <a:p>
            <a:r>
              <a:rPr lang="en-US" sz="1500" dirty="0"/>
              <a:t>Resized and normalized images for CLIP input</a:t>
            </a:r>
          </a:p>
          <a:p>
            <a:r>
              <a:rPr lang="en-US" sz="1500" dirty="0"/>
              <a:t>Tokenized captions using GPT-2 tokenizer</a:t>
            </a:r>
          </a:p>
        </p:txBody>
      </p:sp>
      <p:pic>
        <p:nvPicPr>
          <p:cNvPr id="1026" name="Picture 2" descr="Lecture 7: Foundation Models - The Full Stack">
            <a:extLst>
              <a:ext uri="{FF2B5EF4-FFF2-40B4-BE49-F238E27FC236}">
                <a16:creationId xmlns:a16="http://schemas.microsoft.com/office/drawing/2014/main" id="{0476CD47-1A9B-3DF6-66F9-339450E62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472" y="750421"/>
            <a:ext cx="4423507" cy="259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om Images to Words: A Multimodal Approach to Image Captioning Using EfficientNet and T5 | by Tanishq Sharma | Medium">
            <a:extLst>
              <a:ext uri="{FF2B5EF4-FFF2-40B4-BE49-F238E27FC236}">
                <a16:creationId xmlns:a16="http://schemas.microsoft.com/office/drawing/2014/main" id="{E9296BC2-2A52-6F9C-037F-ABC431564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657" y="3667828"/>
            <a:ext cx="4515537" cy="204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954290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43E6-4477-EAE0-B4B0-67C5BC3E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418666" cy="744638"/>
          </a:xfrm>
        </p:spPr>
        <p:txBody>
          <a:bodyPr>
            <a:normAutofit/>
          </a:bodyPr>
          <a:lstStyle/>
          <a:p>
            <a:r>
              <a:rPr lang="en-US" dirty="0"/>
              <a:t>IMAGE EMBEDDING (CLIP)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EEDCD-EB95-C43F-937B-D9937BF18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57" y="1415951"/>
            <a:ext cx="5885512" cy="1728505"/>
          </a:xfrm>
        </p:spPr>
        <p:txBody>
          <a:bodyPr>
            <a:normAutofit/>
          </a:bodyPr>
          <a:lstStyle/>
          <a:p>
            <a:r>
              <a:rPr lang="en-US" sz="1500" dirty="0"/>
              <a:t>Used CLIP </a:t>
            </a:r>
            <a:r>
              <a:rPr lang="en-US" sz="1500" dirty="0" err="1"/>
              <a:t>ViT</a:t>
            </a:r>
            <a:r>
              <a:rPr lang="en-US" sz="1500" dirty="0"/>
              <a:t>-B/32 as image encoder</a:t>
            </a:r>
          </a:p>
          <a:p>
            <a:r>
              <a:rPr lang="en-US" sz="1500" dirty="0"/>
              <a:t>Extracted 512-dimensional embeddings</a:t>
            </a:r>
          </a:p>
          <a:p>
            <a:r>
              <a:rPr lang="en-US" sz="1500" dirty="0"/>
              <a:t>Normalized embeddings for stable learning</a:t>
            </a:r>
          </a:p>
          <a:p>
            <a:r>
              <a:rPr lang="en-US" sz="1500" dirty="0"/>
              <a:t>Captures semantic meaning of images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4990FB-F24A-3F23-D5CE-4079B50CA42C}"/>
              </a:ext>
            </a:extLst>
          </p:cNvPr>
          <p:cNvSpPr txBox="1">
            <a:spLocks/>
          </p:cNvSpPr>
          <p:nvPr/>
        </p:nvSpPr>
        <p:spPr>
          <a:xfrm>
            <a:off x="758357" y="3206169"/>
            <a:ext cx="3408529" cy="7446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TOKENIZATION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404C1C-956D-34A8-F4ED-DF6D5D5B0C1A}"/>
              </a:ext>
            </a:extLst>
          </p:cNvPr>
          <p:cNvSpPr txBox="1">
            <a:spLocks/>
          </p:cNvSpPr>
          <p:nvPr/>
        </p:nvSpPr>
        <p:spPr>
          <a:xfrm>
            <a:off x="758357" y="4012520"/>
            <a:ext cx="5885512" cy="1728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Used GPT-2 tokenizer for text processing</a:t>
            </a:r>
          </a:p>
          <a:p>
            <a:r>
              <a:rPr lang="en-US" sz="1500" dirty="0"/>
              <a:t>Added special tokens (start, end, padding)</a:t>
            </a:r>
          </a:p>
          <a:p>
            <a:r>
              <a:rPr lang="en-US" sz="1500" dirty="0"/>
              <a:t>Converted captions into fixed-length sequences</a:t>
            </a:r>
          </a:p>
          <a:p>
            <a:r>
              <a:rPr lang="en-US" sz="1500" dirty="0"/>
              <a:t>Ensures compatibility with transformer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4540B4D-3F36-05C5-D07B-AE41F9C7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6895"/>
            <a:ext cx="5021943" cy="604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0749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0229913-C5A3-7190-A026-2397E0472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54529"/>
            <a:ext cx="4745210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500" dirty="0"/>
              <a:t>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 </a:t>
            </a:r>
            <a:r>
              <a:rPr lang="en-US" altLang="en-US" sz="3500" dirty="0"/>
              <a:t>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BD048-D4DE-2569-48D7-41DFB58A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8752"/>
            <a:ext cx="5526696" cy="1971573"/>
          </a:xfrm>
        </p:spPr>
        <p:txBody>
          <a:bodyPr>
            <a:normAutofit/>
          </a:bodyPr>
          <a:lstStyle/>
          <a:p>
            <a:r>
              <a:rPr lang="en-US" sz="1500" dirty="0"/>
              <a:t>CLIP encodes images into feature vectors</a:t>
            </a:r>
          </a:p>
          <a:p>
            <a:r>
              <a:rPr lang="en-US" sz="1500" dirty="0"/>
              <a:t>Projection layer aligns image features with GPT-2</a:t>
            </a:r>
          </a:p>
          <a:p>
            <a:r>
              <a:rPr lang="en-US" sz="1500" dirty="0"/>
              <a:t>GPT-2 generates captions autoregressively</a:t>
            </a:r>
          </a:p>
          <a:p>
            <a:r>
              <a:rPr lang="en-US" sz="1500" dirty="0"/>
              <a:t>Implemented prefix conditioning and cross-attention</a:t>
            </a:r>
          </a:p>
          <a:p>
            <a:r>
              <a:rPr lang="en-US" sz="1500" dirty="0"/>
              <a:t>Enables effective multimodal learning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356418-34E3-F184-920D-6A1F951D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34" y="3883606"/>
            <a:ext cx="29498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 eaLnBrk="0" fontAlgn="base" hangingPunct="0">
              <a:spcAft>
                <a:spcPct val="0"/>
              </a:spcAft>
            </a:pPr>
            <a:r>
              <a:rPr lang="en-US" dirty="0"/>
              <a:t>EXPERIMENTS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66DD34-A326-D675-1FE5-D6F6914D1716}"/>
              </a:ext>
            </a:extLst>
          </p:cNvPr>
          <p:cNvSpPr txBox="1">
            <a:spLocks/>
          </p:cNvSpPr>
          <p:nvPr/>
        </p:nvSpPr>
        <p:spPr>
          <a:xfrm>
            <a:off x="677334" y="4636227"/>
            <a:ext cx="5526696" cy="1971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Tested different decoding strategies</a:t>
            </a:r>
          </a:p>
          <a:p>
            <a:r>
              <a:rPr lang="en-US" sz="1500" dirty="0"/>
              <a:t>Compared greedy, beam search, and top-p sampling</a:t>
            </a:r>
          </a:p>
          <a:p>
            <a:r>
              <a:rPr lang="en-US" sz="1500" dirty="0"/>
              <a:t>Observed variations in caption quality</a:t>
            </a:r>
          </a:p>
          <a:p>
            <a:r>
              <a:rPr lang="en-US" sz="1500" dirty="0"/>
              <a:t>Evaluated how randomness affects output</a:t>
            </a:r>
          </a:p>
        </p:txBody>
      </p:sp>
      <p:pic>
        <p:nvPicPr>
          <p:cNvPr id="3076" name="Picture 4" descr="Multimodal Large Language Models (MLLMs) transforming Computer Vision | by The Tenyks Blogger | Medium">
            <a:extLst>
              <a:ext uri="{FF2B5EF4-FFF2-40B4-BE49-F238E27FC236}">
                <a16:creationId xmlns:a16="http://schemas.microsoft.com/office/drawing/2014/main" id="{8D183990-A090-35EA-5E50-05C2B16C6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143" y="1658252"/>
            <a:ext cx="5781523" cy="458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0662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FA73-7916-16B4-32B7-0BF242F3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449" y="955857"/>
            <a:ext cx="6001258" cy="628891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4F27-AB63-BB6E-377E-2CB05D574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4748"/>
            <a:ext cx="6846210" cy="1844252"/>
          </a:xfrm>
        </p:spPr>
        <p:txBody>
          <a:bodyPr>
            <a:normAutofit/>
          </a:bodyPr>
          <a:lstStyle/>
          <a:p>
            <a:r>
              <a:rPr lang="en-US" sz="1500" dirty="0"/>
              <a:t>Model generates captions for unseen images</a:t>
            </a:r>
          </a:p>
          <a:p>
            <a:r>
              <a:rPr lang="en-US" sz="1500" dirty="0"/>
              <a:t>Accurate for simple and common scenes</a:t>
            </a:r>
          </a:p>
          <a:p>
            <a:r>
              <a:rPr lang="en-US" sz="1500" dirty="0"/>
              <a:t>Some captions closely match human descriptions</a:t>
            </a:r>
          </a:p>
          <a:p>
            <a:r>
              <a:rPr lang="en-US" sz="1500" dirty="0"/>
              <a:t>Output quality depends on decoding strategy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18DA4A-2A3F-CB65-9F8C-C6E98055728F}"/>
              </a:ext>
            </a:extLst>
          </p:cNvPr>
          <p:cNvSpPr txBox="1">
            <a:spLocks/>
          </p:cNvSpPr>
          <p:nvPr/>
        </p:nvSpPr>
        <p:spPr>
          <a:xfrm>
            <a:off x="677334" y="3429000"/>
            <a:ext cx="6001258" cy="62889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EVALUATION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0A6CF9-20FB-E27A-2DAF-3F1863A20FC5}"/>
              </a:ext>
            </a:extLst>
          </p:cNvPr>
          <p:cNvSpPr txBox="1">
            <a:spLocks/>
          </p:cNvSpPr>
          <p:nvPr/>
        </p:nvSpPr>
        <p:spPr>
          <a:xfrm>
            <a:off x="677334" y="4351126"/>
            <a:ext cx="6846210" cy="1844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Evaluated captions qualitatively using visual inspection</a:t>
            </a:r>
          </a:p>
          <a:p>
            <a:r>
              <a:rPr lang="en-US" sz="1500" dirty="0"/>
              <a:t>Compared generated captions with actual images</a:t>
            </a:r>
          </a:p>
          <a:p>
            <a:r>
              <a:rPr lang="en-US" sz="1500" dirty="0"/>
              <a:t>Observed semantic alignment between image and text</a:t>
            </a:r>
          </a:p>
          <a:p>
            <a:r>
              <a:rPr lang="en-US" sz="1500" dirty="0"/>
              <a:t>Metrics like BLEU, METEOR, </a:t>
            </a:r>
            <a:r>
              <a:rPr lang="en-US" sz="1500" dirty="0" err="1"/>
              <a:t>CIDEr</a:t>
            </a:r>
            <a:r>
              <a:rPr lang="en-US" sz="1500" dirty="0"/>
              <a:t> can be used for evaluation</a:t>
            </a:r>
          </a:p>
        </p:txBody>
      </p:sp>
      <p:pic>
        <p:nvPicPr>
          <p:cNvPr id="4100" name="Picture 4" descr="Google Open-Sources Image Captioning Intelligence | NVIDIA Technical Blog">
            <a:extLst>
              <a:ext uri="{FF2B5EF4-FFF2-40B4-BE49-F238E27FC236}">
                <a16:creationId xmlns:a16="http://schemas.microsoft.com/office/drawing/2014/main" id="{D0B07AC3-DBAE-F7B1-77D2-BF3F77022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303" y="283586"/>
            <a:ext cx="4820783" cy="314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Captioning With Flickr8k Dataset &amp; BLEU | by Raman Shinde | Medium">
            <a:extLst>
              <a:ext uri="{FF2B5EF4-FFF2-40B4-BE49-F238E27FC236}">
                <a16:creationId xmlns:a16="http://schemas.microsoft.com/office/drawing/2014/main" id="{FE7C34B7-2D98-2AE6-72CE-5F5ABB716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401" y="3775256"/>
            <a:ext cx="4820783" cy="292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5162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C819037-A607-4A7B-ADF1-B04516199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75A12D9-3CB4-4818-A5F8-E8E648B2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811" y="0"/>
            <a:ext cx="6766273" cy="5545722"/>
          </a:xfrm>
          <a:custGeom>
            <a:avLst/>
            <a:gdLst>
              <a:gd name="connsiteX0" fmla="*/ 0 w 6766273"/>
              <a:gd name="connsiteY0" fmla="*/ 0 h 5545722"/>
              <a:gd name="connsiteX1" fmla="*/ 6576149 w 6766273"/>
              <a:gd name="connsiteY1" fmla="*/ 0 h 5545722"/>
              <a:gd name="connsiteX2" fmla="*/ 6631498 w 6766273"/>
              <a:gd name="connsiteY2" fmla="*/ 194912 h 5545722"/>
              <a:gd name="connsiteX3" fmla="*/ 6766273 w 6766273"/>
              <a:gd name="connsiteY3" fmla="*/ 1264785 h 5545722"/>
              <a:gd name="connsiteX4" fmla="*/ 2485336 w 6766273"/>
              <a:gd name="connsiteY4" fmla="*/ 5545722 h 5545722"/>
              <a:gd name="connsiteX5" fmla="*/ 91824 w 6766273"/>
              <a:gd name="connsiteY5" fmla="*/ 4814605 h 5545722"/>
              <a:gd name="connsiteX6" fmla="*/ 0 w 6766273"/>
              <a:gd name="connsiteY6" fmla="*/ 4749308 h 554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6273" h="5545722">
                <a:moveTo>
                  <a:pt x="0" y="0"/>
                </a:moveTo>
                <a:lnTo>
                  <a:pt x="6576149" y="0"/>
                </a:lnTo>
                <a:lnTo>
                  <a:pt x="6631498" y="194912"/>
                </a:lnTo>
                <a:cubicBezTo>
                  <a:pt x="6719480" y="536872"/>
                  <a:pt x="6766273" y="895364"/>
                  <a:pt x="6766273" y="1264785"/>
                </a:cubicBezTo>
                <a:cubicBezTo>
                  <a:pt x="6766273" y="3629081"/>
                  <a:pt x="4849632" y="5545722"/>
                  <a:pt x="2485336" y="5545722"/>
                </a:cubicBezTo>
                <a:cubicBezTo>
                  <a:pt x="1598725" y="5545722"/>
                  <a:pt x="775066" y="5276195"/>
                  <a:pt x="91824" y="4814605"/>
                </a:cubicBezTo>
                <a:lnTo>
                  <a:pt x="0" y="4749308"/>
                </a:lnTo>
                <a:close/>
              </a:path>
            </a:pathLst>
          </a:custGeom>
          <a:solidFill>
            <a:srgbClr val="FFFFFF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miter lim="800000"/>
          </a:ln>
          <a:effectLst>
            <a:outerShdw blurRad="254000" algn="tl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2A29163-5F2A-D223-7B80-1A8C96C11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48" y="280568"/>
            <a:ext cx="5615152" cy="1937226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C9B7894-ADA8-408F-81D5-30D795467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3677" y="760562"/>
            <a:ext cx="5298683" cy="6097438"/>
          </a:xfrm>
          <a:custGeom>
            <a:avLst/>
            <a:gdLst>
              <a:gd name="connsiteX0" fmla="*/ 3120528 w 5298683"/>
              <a:gd name="connsiteY0" fmla="*/ 0 h 6097438"/>
              <a:gd name="connsiteX1" fmla="*/ 5105473 w 5298683"/>
              <a:gd name="connsiteY1" fmla="*/ 712577 h 6097438"/>
              <a:gd name="connsiteX2" fmla="*/ 5298683 w 5298683"/>
              <a:gd name="connsiteY2" fmla="*/ 888178 h 6097438"/>
              <a:gd name="connsiteX3" fmla="*/ 5298683 w 5298683"/>
              <a:gd name="connsiteY3" fmla="*/ 5352876 h 6097438"/>
              <a:gd name="connsiteX4" fmla="*/ 5105473 w 5298683"/>
              <a:gd name="connsiteY4" fmla="*/ 5528477 h 6097438"/>
              <a:gd name="connsiteX5" fmla="*/ 4335177 w 5298683"/>
              <a:gd name="connsiteY5" fmla="*/ 5995828 h 6097438"/>
              <a:gd name="connsiteX6" fmla="*/ 4057556 w 5298683"/>
              <a:gd name="connsiteY6" fmla="*/ 6097438 h 6097438"/>
              <a:gd name="connsiteX7" fmla="*/ 2183499 w 5298683"/>
              <a:gd name="connsiteY7" fmla="*/ 6097438 h 6097438"/>
              <a:gd name="connsiteX8" fmla="*/ 1905878 w 5298683"/>
              <a:gd name="connsiteY8" fmla="*/ 5995828 h 6097438"/>
              <a:gd name="connsiteX9" fmla="*/ 0 w 5298683"/>
              <a:gd name="connsiteY9" fmla="*/ 3120527 h 6097438"/>
              <a:gd name="connsiteX10" fmla="*/ 3120528 w 5298683"/>
              <a:gd name="connsiteY10" fmla="*/ 0 h 609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98683" h="6097438">
                <a:moveTo>
                  <a:pt x="3120528" y="0"/>
                </a:moveTo>
                <a:cubicBezTo>
                  <a:pt x="3874524" y="0"/>
                  <a:pt x="4566062" y="267415"/>
                  <a:pt x="5105473" y="712577"/>
                </a:cubicBezTo>
                <a:lnTo>
                  <a:pt x="5298683" y="888178"/>
                </a:lnTo>
                <a:lnTo>
                  <a:pt x="5298683" y="5352876"/>
                </a:lnTo>
                <a:lnTo>
                  <a:pt x="5105473" y="5528477"/>
                </a:lnTo>
                <a:cubicBezTo>
                  <a:pt x="4874296" y="5719261"/>
                  <a:pt x="4615179" y="5877397"/>
                  <a:pt x="4335177" y="5995828"/>
                </a:cubicBezTo>
                <a:lnTo>
                  <a:pt x="4057556" y="6097438"/>
                </a:lnTo>
                <a:lnTo>
                  <a:pt x="2183499" y="6097438"/>
                </a:lnTo>
                <a:lnTo>
                  <a:pt x="1905878" y="5995828"/>
                </a:lnTo>
                <a:cubicBezTo>
                  <a:pt x="785873" y="5522106"/>
                  <a:pt x="0" y="4413092"/>
                  <a:pt x="0" y="3120527"/>
                </a:cubicBezTo>
                <a:cubicBezTo>
                  <a:pt x="0" y="1397108"/>
                  <a:pt x="1397108" y="0"/>
                  <a:pt x="3120528" y="0"/>
                </a:cubicBezTo>
                <a:close/>
              </a:path>
            </a:pathLst>
          </a:custGeom>
          <a:solidFill>
            <a:srgbClr val="FFFFFF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miter lim="800000"/>
          </a:ln>
          <a:effectLst>
            <a:outerShdw blurRad="254000" algn="tl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E15E744-C29C-39AA-7CAE-8DFB18FC0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907" y="3504271"/>
            <a:ext cx="3705873" cy="2492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69610D-8EC4-3761-06D0-22DACD384493}"/>
              </a:ext>
            </a:extLst>
          </p:cNvPr>
          <p:cNvSpPr txBox="1"/>
          <p:nvPr/>
        </p:nvSpPr>
        <p:spPr>
          <a:xfrm>
            <a:off x="187640" y="2211609"/>
            <a:ext cx="299099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Temperature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Low → accurate but repetitive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High → creative but less accurate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Best balance at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0.5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Beam Width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Increasing width gives little improvement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Higher beams = more computation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Greedy (beam = 1) works well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68F2F3-48B7-9AC1-B48B-E4A178060A4F}"/>
              </a:ext>
            </a:extLst>
          </p:cNvPr>
          <p:cNvSpPr txBox="1"/>
          <p:nvPr/>
        </p:nvSpPr>
        <p:spPr>
          <a:xfrm>
            <a:off x="3178630" y="2334720"/>
            <a:ext cx="274158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Decoding Strategies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Greedy performs best overall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Highest accuracy across all metrics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Simple but most reliable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6DEE6-252D-3691-6A32-48F54EB5AE78}"/>
              </a:ext>
            </a:extLst>
          </p:cNvPr>
          <p:cNvSpPr txBox="1"/>
          <p:nvPr/>
        </p:nvSpPr>
        <p:spPr>
          <a:xfrm>
            <a:off x="7895771" y="1457557"/>
            <a:ext cx="601466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Fine-Tuning Strategies (From Graph)</a:t>
            </a:r>
          </a:p>
          <a:p>
            <a:r>
              <a:rPr lang="en-US" sz="1400" b="1" dirty="0" err="1">
                <a:solidFill>
                  <a:schemeClr val="accent1">
                    <a:lumMod val="50000"/>
                  </a:schemeClr>
                </a:solidFill>
              </a:rPr>
              <a:t>LoRA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performs best overall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across all metrics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Highest scores in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BLEU-4, METEOR, and ROUGE-L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Full Fine-Tuning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performs well but slightly lower than </a:t>
            </a:r>
          </a:p>
          <a:p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LoRA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Prefix Tuning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is the weakest among the three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8131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F675156-EB94-615E-A633-EF71D429D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3" y="885015"/>
            <a:ext cx="18804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/>
              <a:t>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68FE-2C6D-C5FC-F381-D681F433B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28154"/>
            <a:ext cx="7598565" cy="1578034"/>
          </a:xfrm>
        </p:spPr>
        <p:txBody>
          <a:bodyPr>
            <a:normAutofit/>
          </a:bodyPr>
          <a:lstStyle/>
          <a:p>
            <a:r>
              <a:rPr lang="en-US" sz="1500" dirty="0"/>
              <a:t>Model performs well on simple and clear images</a:t>
            </a:r>
          </a:p>
          <a:p>
            <a:r>
              <a:rPr lang="en-US" sz="1500" dirty="0"/>
              <a:t>Struggles with complex or crowded scenes</a:t>
            </a:r>
          </a:p>
          <a:p>
            <a:r>
              <a:rPr lang="en-US" sz="1500" dirty="0"/>
              <a:t>Beam search improves accuracy but reduces diversity</a:t>
            </a:r>
          </a:p>
          <a:p>
            <a:r>
              <a:rPr lang="en-US" sz="1500" dirty="0"/>
              <a:t>Sampling methods improve creativity but may reduce correctness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7CA54F-75DB-6C3F-6ACA-5B929BF23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33" y="3398222"/>
            <a:ext cx="28793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 eaLnBrk="0" fontAlgn="base" hangingPunct="0">
              <a:spcAft>
                <a:spcPct val="0"/>
              </a:spcAft>
            </a:pPr>
            <a:r>
              <a:rPr lang="en-US" dirty="0"/>
              <a:t>CHALLENGES</a:t>
            </a:r>
            <a:r>
              <a:rPr lang="en-US" altLang="en-US" sz="1800" dirty="0">
                <a:solidFill>
                  <a:srgbClr val="000000"/>
                </a:solidFill>
                <a:latin typeface="-webkit-standard"/>
              </a:rPr>
              <a:t> 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5BC0F3-7208-198B-76EE-08C9D8919C39}"/>
              </a:ext>
            </a:extLst>
          </p:cNvPr>
          <p:cNvSpPr txBox="1">
            <a:spLocks/>
          </p:cNvSpPr>
          <p:nvPr/>
        </p:nvSpPr>
        <p:spPr>
          <a:xfrm>
            <a:off x="677333" y="4236587"/>
            <a:ext cx="7598565" cy="157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Training required high computational resources</a:t>
            </a:r>
          </a:p>
          <a:p>
            <a:r>
              <a:rPr lang="en-US" sz="1500" dirty="0"/>
              <a:t>Caption quality varies across images</a:t>
            </a:r>
          </a:p>
          <a:p>
            <a:r>
              <a:rPr lang="en-US" sz="1500" dirty="0"/>
              <a:t>Cross-modal alignment is complex</a:t>
            </a:r>
          </a:p>
          <a:p>
            <a:r>
              <a:rPr lang="en-US" sz="1500" dirty="0"/>
              <a:t>Handling diverse datasets is challenging</a:t>
            </a:r>
          </a:p>
        </p:txBody>
      </p:sp>
      <p:pic>
        <p:nvPicPr>
          <p:cNvPr id="5122" name="Picture 2" descr="Kids playing football on grass">
            <a:extLst>
              <a:ext uri="{FF2B5EF4-FFF2-40B4-BE49-F238E27FC236}">
                <a16:creationId xmlns:a16="http://schemas.microsoft.com/office/drawing/2014/main" id="{B6CD1A95-AFE4-3607-63B0-FC5F77F5D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701" y="555250"/>
            <a:ext cx="2929305" cy="195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Description! Busy Picnic Scene by Sophie Keating | TPT">
            <a:extLst>
              <a:ext uri="{FF2B5EF4-FFF2-40B4-BE49-F238E27FC236}">
                <a16:creationId xmlns:a16="http://schemas.microsoft.com/office/drawing/2014/main" id="{5B15F493-7A9E-56D8-95B3-7C4C95538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018" y="3398222"/>
            <a:ext cx="3480673" cy="246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96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85D0-70CE-9B8F-607B-96CCCD9B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524276" cy="721489"/>
          </a:xfrm>
        </p:spPr>
        <p:txBody>
          <a:bodyPr>
            <a:normAutofit/>
          </a:bodyPr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9C0E-BBB2-8880-D674-5527B37BB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3174"/>
            <a:ext cx="7367071" cy="1855826"/>
          </a:xfrm>
        </p:spPr>
        <p:txBody>
          <a:bodyPr>
            <a:normAutofit/>
          </a:bodyPr>
          <a:lstStyle/>
          <a:p>
            <a:r>
              <a:rPr lang="en-US" sz="1500" dirty="0"/>
              <a:t>Multimodal models are powerful but complex</a:t>
            </a:r>
          </a:p>
          <a:p>
            <a:r>
              <a:rPr lang="en-US" sz="1500" dirty="0"/>
              <a:t>Trade-off between accuracy and creativity</a:t>
            </a:r>
          </a:p>
          <a:p>
            <a:r>
              <a:rPr lang="en-US" sz="1500" dirty="0"/>
              <a:t>Potential bias in dataset affects output</a:t>
            </a:r>
          </a:p>
          <a:p>
            <a:r>
              <a:rPr lang="en-US" sz="1500" dirty="0"/>
              <a:t>Important for applications like accessibility and AI assistants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BBBD5D-28AE-D091-EB16-F09AC4003E63}"/>
              </a:ext>
            </a:extLst>
          </p:cNvPr>
          <p:cNvSpPr txBox="1">
            <a:spLocks/>
          </p:cNvSpPr>
          <p:nvPr/>
        </p:nvSpPr>
        <p:spPr>
          <a:xfrm>
            <a:off x="677334" y="3429000"/>
            <a:ext cx="3524276" cy="7214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704986-0FA4-256E-4B88-AD62792D15D4}"/>
              </a:ext>
            </a:extLst>
          </p:cNvPr>
          <p:cNvSpPr txBox="1">
            <a:spLocks/>
          </p:cNvSpPr>
          <p:nvPr/>
        </p:nvSpPr>
        <p:spPr>
          <a:xfrm>
            <a:off x="677334" y="4264315"/>
            <a:ext cx="7367071" cy="18558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Successfully built an image captioning system using CLIP and GPT-2.</a:t>
            </a:r>
          </a:p>
          <a:p>
            <a:r>
              <a:rPr lang="en-US" dirty="0"/>
              <a:t>The model was able to generate meaningful captions for different images.</a:t>
            </a:r>
          </a:p>
          <a:p>
            <a:r>
              <a:rPr lang="en-US" dirty="0"/>
              <a:t>Combining visual and language models improved overall understanding.</a:t>
            </a:r>
          </a:p>
          <a:p>
            <a:r>
              <a:rPr lang="en-US" dirty="0"/>
              <a:t>Results show a balance between accuracy and creativity in captions.</a:t>
            </a:r>
          </a:p>
          <a:p>
            <a:r>
              <a:rPr lang="en-US" dirty="0"/>
              <a:t>The approach can be extended further using more advanced models and larger datasets.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55468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2" name="Picture 9331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9218" name="Picture 2" descr="Robot character say Hi Hello vector illustration. Cute robot cartoon illustration design">
            <a:extLst>
              <a:ext uri="{FF2B5EF4-FFF2-40B4-BE49-F238E27FC236}">
                <a16:creationId xmlns:a16="http://schemas.microsoft.com/office/drawing/2014/main" id="{682B5EA5-5BED-0C4C-DFF2-B4D6C028D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199"/>
          <a:stretch>
            <a:fillRect/>
          </a:stretch>
        </p:blipFill>
        <p:spPr bwMode="auto">
          <a:xfrm>
            <a:off x="20" y="975"/>
            <a:ext cx="75529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34" name="Picture 9333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C7612-C981-3239-8D1B-3430F5BC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964267"/>
            <a:ext cx="3254990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                    </a:t>
            </a:r>
            <a:r>
              <a:rPr lang="en-US" sz="4800" b="1" dirty="0"/>
              <a:t>Thank You</a:t>
            </a:r>
            <a:endParaRPr lang="en-US" sz="4800" b="1"/>
          </a:p>
        </p:txBody>
      </p:sp>
    </p:spTree>
    <p:extLst>
      <p:ext uri="{BB962C8B-B14F-4D97-AF65-F5344CB8AC3E}">
        <p14:creationId xmlns:p14="http://schemas.microsoft.com/office/powerpoint/2010/main" val="9188915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201</TotalTime>
  <Words>641</Words>
  <Application>Microsoft Macintosh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-webkit-standard</vt:lpstr>
      <vt:lpstr>Arial</vt:lpstr>
      <vt:lpstr>Calibri</vt:lpstr>
      <vt:lpstr>Calibri Light</vt:lpstr>
      <vt:lpstr>Celestial</vt:lpstr>
      <vt:lpstr>GENERATIVE PROJECT IE(7295) NEURAL NETWORK / DEEP LEARNING </vt:lpstr>
      <vt:lpstr>PROBLEM STATEMENT </vt:lpstr>
      <vt:lpstr>DATASET</vt:lpstr>
      <vt:lpstr>END-TO-END PIPELINE</vt:lpstr>
      <vt:lpstr>IMAGE EMBEDDING (CLIP)</vt:lpstr>
      <vt:lpstr>MODEL  ARCHITECTURE </vt:lpstr>
      <vt:lpstr>RESULTS</vt:lpstr>
      <vt:lpstr>PowerPoint Presentation</vt:lpstr>
      <vt:lpstr>ANALYSIS </vt:lpstr>
      <vt:lpstr>REFLECTION</vt:lpstr>
      <vt:lpstr>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Mittalkumar Patel</dc:creator>
  <cp:lastModifiedBy>Rian Renold Dbritto</cp:lastModifiedBy>
  <cp:revision>7</cp:revision>
  <dcterms:created xsi:type="dcterms:W3CDTF">2026-04-15T23:44:04Z</dcterms:created>
  <dcterms:modified xsi:type="dcterms:W3CDTF">2026-04-16T16:47:39Z</dcterms:modified>
</cp:coreProperties>
</file>